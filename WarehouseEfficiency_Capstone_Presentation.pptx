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928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F00A-166A-09C5-7905-3A2382F8B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C4F0B-15A3-970A-7BC6-A8E44AAA3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4EBB2-59D3-423E-F96F-C444F32BA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799CD-0E66-1DB7-90FD-57AC8D0A98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46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8235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54864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Operational Efficiency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Using Data Analytics and Predictive Modelling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1371600" cy="4572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514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Deepesh Kumar Gautam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USN: 233VBBR00561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 (DSA) | </a:t>
            </a:r>
            <a:r>
              <a:rPr lang="en-US" sz="110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SupplyFlow</a:t>
            </a:r>
            <a:r>
              <a:rPr lang="en-US" sz="110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FMCG Solutions [Capstone Project]</a:t>
            </a:r>
            <a:endParaRPr lang="en-US" sz="1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6560" y="12801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
</a:t>
            </a:r>
            <a:r>
              <a:rPr lang="en-US" sz="18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
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
</a:t>
            </a:r>
            <a:r>
              <a:rPr lang="en-US" sz="18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20840" y="4023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9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Rishabh Pandey</a:t>
            </a:r>
            <a:endParaRPr lang="en-US" sz="9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– Jain Online</a:t>
            </a:r>
            <a:endParaRPr lang="en-US" sz="9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DF7362A1-8EB7-3EAE-23C2-B8E56077C69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11480" y="146978"/>
            <a:ext cx="3035105" cy="721702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same company have warehouses that are worlds apart in performance?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118381"/>
            <a:ext cx="2651760" cy="31968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208" y="1758461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2215661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warehouses. A coefficient of variation of 52%. Some ship 40,000+ tons. Others struggle past 5,000.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1840" y="1118381"/>
            <a:ext cx="2651760" cy="319688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01568" y="1758461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Root Cause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1568" y="2215661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relied on static KPIs. They knew what was failing. They didn't know why — or which sites were next.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1118381"/>
            <a:ext cx="2651760" cy="319688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81928" y="1758461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81928" y="2215661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data-driven framework to rank every warehouse, identify key drivers, and give management a tool to act.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1480" y="4408463"/>
            <a:ext cx="8412480" cy="323557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408463"/>
            <a:ext cx="8229600" cy="323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SupplyFlow FMCG Solutions  |  SupplyFlow_FMCG_Solutions.xlsx  |  25,000 records across 24 operational variables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had to work with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187452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60934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87452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515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160934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Variables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187452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0515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17720" y="160934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Zones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1005840"/>
            <a:ext cx="1874520" cy="1097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0515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20840" y="160934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Categories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2697480"/>
            <a:ext cx="26060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734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Infrastructure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00837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flood, electric, temp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697480"/>
            <a:ext cx="26060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2734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Workforce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00837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workers, manager 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9320" y="2697480"/>
            <a:ext cx="26060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2734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Geography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300837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zone, hub distance, location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383280"/>
            <a:ext cx="26060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34198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Operations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69417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breakdowns, refills, checks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383280"/>
            <a:ext cx="26060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91840" y="34198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Network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369417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shops, distributors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3383280"/>
            <a:ext cx="26060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80760" y="34198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Variable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80760" y="369417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product_wg_ton (tons shipped)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251960"/>
            <a:ext cx="8321040" cy="544830"/>
          </a:xfrm>
          <a:prstGeom prst="rect">
            <a:avLst/>
          </a:prstGeom>
          <a:solidFill>
            <a:srgbClr val="FFF3ED"/>
          </a:solidFill>
          <a:ln w="19050">
            <a:solidFill>
              <a:srgbClr val="E852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2976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Decision: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storage_issue_reported_l3m was excluded. Pearson r = 0.987 with target — a co-indicator of load, not a causal driver. Inclusion would assign 98% importance to one variable, making the model unactionable.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rigorous, end-to-end analytical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743200" cy="16002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120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167335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 checks</a:t>
            </a:r>
            <a:endParaRPr lang="en-US" sz="10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audit</a:t>
            </a:r>
            <a:endParaRPr lang="en-US" sz="10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duplicates confirmed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743200" cy="16002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728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77640" y="11887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7288" y="167335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0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scatter</a:t>
            </a:r>
            <a:endParaRPr lang="en-US" sz="10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63640" y="1051560"/>
            <a:ext cx="2743200" cy="16002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7336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03720" y="11887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73368" y="167335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10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capping</a:t>
            </a:r>
            <a:endParaRPr lang="en-US" sz="10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transforms</a:t>
            </a:r>
            <a:endParaRPr lang="en-US" sz="10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1480" y="2880360"/>
            <a:ext cx="2743200" cy="1600200"/>
          </a:xfrm>
          <a:prstGeom prst="rect">
            <a:avLst/>
          </a:prstGeom>
          <a:solidFill>
            <a:srgbClr val="E8521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51560" y="30175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" y="350215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importance</a:t>
            </a:r>
            <a:endParaRPr lang="en-US" sz="10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→ 12 features</a:t>
            </a:r>
            <a:endParaRPr lang="en-US" sz="10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Co-indicator removed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337560" y="2880360"/>
            <a:ext cx="2743200" cy="1600200"/>
          </a:xfrm>
          <a:prstGeom prst="rect">
            <a:avLst/>
          </a:prstGeom>
          <a:solidFill>
            <a:srgbClr val="E8521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4728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977640" y="30175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47288" y="350215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trained</a:t>
            </a:r>
            <a:endParaRPr lang="en-US" sz="10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train/test split</a:t>
            </a:r>
            <a:endParaRPr lang="en-US" sz="10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metrics each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63640" y="2880360"/>
            <a:ext cx="2743200" cy="1600200"/>
          </a:xfrm>
          <a:prstGeom prst="rect">
            <a:avLst/>
          </a:prstGeom>
          <a:solidFill>
            <a:srgbClr val="E8521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7336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903720" y="301752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Score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73368" y="350215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index</a:t>
            </a:r>
            <a:endParaRPr lang="en-US" sz="10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ranking</a:t>
            </a:r>
            <a:endParaRPr lang="en-US" sz="105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 / Low tiers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11480" y="4709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D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Secondary | </a:t>
            </a:r>
            <a:r>
              <a:rPr lang="en-US" sz="900" i="1" dirty="0">
                <a:solidFill>
                  <a:srgbClr val="6B7B8D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SupplyFlow FMCG Solutions dataset | 25,000 records | </a:t>
            </a:r>
            <a:r>
              <a:rPr lang="en-US" sz="900" i="1" dirty="0">
                <a:solidFill>
                  <a:srgbClr val="6B7B8D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Python 3.10, Scikit-learn, Kaggle Notebook. </a:t>
            </a:r>
            <a:r>
              <a:rPr lang="en-US" sz="900" i="1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  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that shaped every modelling decision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023360" cy="2011680"/>
          </a:xfrm>
          <a:prstGeom prst="rect">
            <a:avLst/>
          </a:prstGeom>
          <a:solidFill>
            <a:srgbClr val="F4F7FC"/>
          </a:solidFill>
          <a:ln w="1905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1208" y="1115568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 — Avg Shipment by Zone, Capacity, Ownership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17720" y="1005840"/>
            <a:ext cx="4114800" cy="20116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Performance is Geographic &amp; Structural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481328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52%</a:t>
            </a: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extreme inequality across the network
</a:t>
            </a:r>
            <a:r>
              <a:rPr lang="en-US" sz="11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&amp; West zones</a:t>
            </a: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outperform East &amp; South
</a:t>
            </a:r>
            <a:r>
              <a:rPr lang="en-US" sz="11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 certified</a:t>
            </a: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warehouses: higher throughput, lower variance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154680"/>
            <a:ext cx="4023360" cy="1691640"/>
          </a:xfrm>
          <a:prstGeom prst="rect">
            <a:avLst/>
          </a:prstGeom>
          <a:solidFill>
            <a:srgbClr val="F4F7FC"/>
          </a:solidFill>
          <a:ln w="1905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" y="3264408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 — Scatter: Numerical Drivers vs Target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3154680"/>
            <a:ext cx="4114800" cy="1691640"/>
          </a:xfrm>
          <a:prstGeom prst="rect">
            <a:avLst/>
          </a:prstGeom>
          <a:solidFill>
            <a:srgbClr val="F4F7FC"/>
          </a:solidFill>
          <a:ln w="1905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27448" y="3264408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10 — storage_issue Co-Indicator Evidence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A060F8B-D3D5-D775-77D4-B23EFFAA48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08" y="1554480"/>
            <a:ext cx="3803903" cy="13350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EDA7B4-B4A5-639C-04E9-7B02A4D090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95" y="3582294"/>
            <a:ext cx="3621727" cy="1177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F24169-360C-BE6B-8CD4-86541D81B3E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152" y="3586543"/>
            <a:ext cx="3650566" cy="1102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models. One winner — chosen by the data, not assumption.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347472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005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34840" y="1005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94960" y="1005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005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0" y="1005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389888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4356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4356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0.4496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14356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8,582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14356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51.21%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4356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0.4433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1481328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6B7B8D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14813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1956816"/>
            <a:ext cx="8321040" cy="53035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00253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200253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0.4496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200253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8,582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200253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51.21%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00253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0.4433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0" y="2048256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6B7B8D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20482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Validation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2523744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256946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25694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0.0269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34840" y="25694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11,411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25694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51.56%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25694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0.0563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0" y="261518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E8521A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26151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Demo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" y="3090672"/>
            <a:ext cx="8321040" cy="53035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1363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91840" y="31363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0.5430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34840" y="31363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7,819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31363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39.21%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0" y="31363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0.5367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98080" y="3182112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A7A4A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0" y="31821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657600"/>
            <a:ext cx="8321040" cy="530352"/>
          </a:xfrm>
          <a:prstGeom prst="rect">
            <a:avLst/>
          </a:prstGeom>
          <a:solidFill>
            <a:srgbClr val="E8F4F0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37033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291840" y="37033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0.5527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434840" y="37033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7,736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94960" y="37033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39.32%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0" y="37033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0.5467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498080" y="374904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/>
        </p:spPr>
      </p:sp>
      <p:sp>
        <p:nvSpPr>
          <p:cNvPr id="51" name="Text 49"/>
          <p:cNvSpPr/>
          <p:nvPr/>
        </p:nvSpPr>
        <p:spPr>
          <a:xfrm>
            <a:off x="7498080" y="3749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Baseline ★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11480" y="4251960"/>
            <a:ext cx="83210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42793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R² = 0.027 on test set despite perfect training fit — textbook overfitting. Ensemble methods overcome this. Gradient Boosting selected for tuning alongside Random Forest.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— TUNED GRADIENT BOOSTING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hyperparameter tuning: the most stable model across all 7 candidates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1920240" cy="1170432"/>
          </a:xfrm>
          <a:prstGeom prst="rect">
            <a:avLst/>
          </a:prstGeom>
          <a:solidFill>
            <a:srgbClr val="1A7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69848"/>
            <a:ext cx="192024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667866"/>
            <a:ext cx="192024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55.4% variance explained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24128"/>
            <a:ext cx="1920240" cy="1170432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069848"/>
            <a:ext cx="192024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7,725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1667866"/>
            <a:ext cx="192024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(tons)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prediction error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024128"/>
            <a:ext cx="1920240" cy="1170432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069848"/>
            <a:ext cx="192024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39.41%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17720" y="1667866"/>
            <a:ext cx="192024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% error vs actual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1024128"/>
            <a:ext cx="1920240" cy="1170432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069848"/>
            <a:ext cx="1920240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0.5461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20840" y="1667866"/>
            <a:ext cx="192024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(5-fold)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0.0096 — stable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331720"/>
            <a:ext cx="4114800" cy="1828800"/>
          </a:xfrm>
          <a:prstGeom prst="rect">
            <a:avLst/>
          </a:prstGeom>
          <a:solidFill>
            <a:srgbClr val="F4F7FC"/>
          </a:solidFill>
          <a:ln w="1905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" y="2441448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15 — Actual vs Predicted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4069080" cy="1828800"/>
          </a:xfrm>
          <a:prstGeom prst="rect">
            <a:avLst/>
          </a:prstGeom>
          <a:solidFill>
            <a:srgbClr val="F4F7FC"/>
          </a:solidFill>
          <a:ln w="1905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73168" y="2441448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17 — Feature Importance (GBM Tuned)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11480" y="4279392"/>
            <a:ext cx="8321040" cy="521208"/>
          </a:xfrm>
          <a:prstGeom prst="rect">
            <a:avLst/>
          </a:prstGeom>
          <a:solidFill>
            <a:srgbClr val="E8F4F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976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— 20 iterations, 5-fold CV  |  Best GBM params: subsample=0.8, n_estimators=100, max_depth=6, learning_rate=0.05  |  </a:t>
            </a: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 = 0.0096 (lowest of all 7 models — most consistent)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2F85F5A-A529-65BD-94AA-27F94BC36A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08" y="2811158"/>
            <a:ext cx="3895344" cy="1262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1C4234D-1005-1E1C-D5AB-F53AE10D4F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5736" y="2811159"/>
            <a:ext cx="3849624" cy="1262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EFFICIENCY COMPOSITE SCORE — THE UNIQUE DELIVERABLE (Part 1)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model into a management tool: ranking 25,000 warehouses 0–100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192024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042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" y="142646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71907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features scaled 0–1 using MinMaxScaler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2024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87752" y="1042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87752" y="142646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87752" y="171907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(higher=better) or –1 (higher=worse) per feature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192024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90872" y="1042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90872" y="142646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90872" y="171907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by GBM importance score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1005840"/>
            <a:ext cx="1920240" cy="1371600"/>
          </a:xfrm>
          <a:prstGeom prst="rect">
            <a:avLst/>
          </a:prstGeom>
          <a:solidFill>
            <a:srgbClr val="1A7A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93992" y="1042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93992" y="142646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93992" y="1719072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&amp; rescale → 0–100 Efficiency Score per warehouse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542032"/>
            <a:ext cx="2651760" cy="1417320"/>
          </a:xfrm>
          <a:prstGeom prst="rect">
            <a:avLst/>
          </a:prstGeom>
          <a:solidFill>
            <a:srgbClr val="F4F7FC"/>
          </a:solidFill>
          <a:ln w="254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2587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High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926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67–100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2880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3,286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783080" y="3172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13.1% of network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2186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network, low disruption, established sites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2542032"/>
            <a:ext cx="2651760" cy="1417320"/>
          </a:xfrm>
          <a:prstGeom prst="rect">
            <a:avLst/>
          </a:prstGeom>
          <a:solidFill>
            <a:srgbClr val="F4F7FC"/>
          </a:solidFill>
          <a:ln w="25400">
            <a:solidFill>
              <a:srgbClr val="B8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37560" y="2587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2926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34–66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17720" y="2880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17,028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617720" y="3172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68.1% of network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37560" y="32186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network — stable, opportunity for optimisation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0760" y="2542032"/>
            <a:ext cx="2651760" cy="1417320"/>
          </a:xfrm>
          <a:prstGeom prst="rect">
            <a:avLst/>
          </a:prstGeom>
          <a:solidFill>
            <a:srgbClr val="F4F7FC"/>
          </a:solidFill>
          <a:ln w="25400">
            <a:solidFill>
              <a:srgbClr val="E852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72200" y="2587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Low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72200" y="2926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0–33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52360" y="2880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4,685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52360" y="3172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 of network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32186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targets — newer sites, high breakdowns, West &amp; North zones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8B8FED35-3EF0-28F8-F831-0A33E94EFFEA}"/>
              </a:ext>
            </a:extLst>
          </p:cNvPr>
          <p:cNvSpPr/>
          <p:nvPr/>
        </p:nvSpPr>
        <p:spPr>
          <a:xfrm>
            <a:off x="411480" y="4709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D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Note : </a:t>
            </a: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 form Code file is part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F03C0-C37B-E498-2084-D7A6BD372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EEF51C-CC6C-6828-F644-29160D615E0C}"/>
              </a:ext>
            </a:extLst>
          </p:cNvPr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F1A3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9E63C9-5112-199E-CFAB-FC4B4EAC44C8}"/>
              </a:ext>
            </a:extLst>
          </p:cNvPr>
          <p:cNvSpPr/>
          <p:nvPr/>
        </p:nvSpPr>
        <p:spPr>
          <a:xfrm>
            <a:off x="365760" y="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EFFICIENCY COMPOSITE SCORE — THE UNIQUE DELIVERABLE (Part 2)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D6E155F-9E1D-D1D5-BBEB-1E7D870C45CF}"/>
              </a:ext>
            </a:extLst>
          </p:cNvPr>
          <p:cNvSpPr/>
          <p:nvPr/>
        </p:nvSpPr>
        <p:spPr>
          <a:xfrm>
            <a:off x="411480" y="3840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1104679-6773-E2D7-4E6D-2AF12864CD39}"/>
              </a:ext>
            </a:extLst>
          </p:cNvPr>
          <p:cNvSpPr/>
          <p:nvPr/>
        </p:nvSpPr>
        <p:spPr>
          <a:xfrm>
            <a:off x="186397" y="475488"/>
            <a:ext cx="4097215" cy="822960"/>
          </a:xfrm>
          <a:prstGeom prst="rect">
            <a:avLst/>
          </a:prstGeom>
          <a:solidFill>
            <a:srgbClr val="F4F7FC"/>
          </a:solidFill>
          <a:ln w="1905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BCCA72B8-9D19-6491-CEBD-B8252116C738}"/>
              </a:ext>
            </a:extLst>
          </p:cNvPr>
          <p:cNvSpPr/>
          <p:nvPr/>
        </p:nvSpPr>
        <p:spPr>
          <a:xfrm>
            <a:off x="521208" y="4151376"/>
            <a:ext cx="8101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21D7F71B-E352-2AAB-086A-9776921FDA41}"/>
              </a:ext>
            </a:extLst>
          </p:cNvPr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D2109FD-AD8B-4709-FD70-A9A09D6212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6" y="1369770"/>
            <a:ext cx="4261973" cy="307775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Shape 37">
            <a:extLst>
              <a:ext uri="{FF2B5EF4-FFF2-40B4-BE49-F238E27FC236}">
                <a16:creationId xmlns:a16="http://schemas.microsoft.com/office/drawing/2014/main" id="{CBD8A72C-796E-70A4-75E3-B0725ED2EDD4}"/>
              </a:ext>
            </a:extLst>
          </p:cNvPr>
          <p:cNvSpPr/>
          <p:nvPr/>
        </p:nvSpPr>
        <p:spPr>
          <a:xfrm>
            <a:off x="4635305" y="467751"/>
            <a:ext cx="4097215" cy="822960"/>
          </a:xfrm>
          <a:prstGeom prst="rect">
            <a:avLst/>
          </a:prstGeom>
          <a:solidFill>
            <a:srgbClr val="F4F7FC"/>
          </a:solidFill>
          <a:ln w="1905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309372-3526-6ED5-C8BB-CA70BD71C78A}"/>
              </a:ext>
            </a:extLst>
          </p:cNvPr>
          <p:cNvSpPr txBox="1"/>
          <p:nvPr/>
        </p:nvSpPr>
        <p:spPr>
          <a:xfrm>
            <a:off x="186397" y="517636"/>
            <a:ext cx="409721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18 — 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Score Distribution, Tier Breakdown, Zone Average </a:t>
            </a:r>
            <a:endParaRPr lang="en-US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CA174E-E7CA-5F12-1137-6617EB61D053}"/>
              </a:ext>
            </a:extLst>
          </p:cNvPr>
          <p:cNvSpPr txBox="1"/>
          <p:nvPr/>
        </p:nvSpPr>
        <p:spPr>
          <a:xfrm>
            <a:off x="4635304" y="517636"/>
            <a:ext cx="409721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19 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Score vs Throughput (r = 0.543 — validated)</a:t>
            </a:r>
            <a:endParaRPr lang="en-US" sz="14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D61C54F9-A8AE-8CB3-93DC-E7F95E08D2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7707" y="1768595"/>
            <a:ext cx="4261973" cy="25427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0136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F1A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— CONSULTING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recommendations. Three impact dimensions. All data-validated.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2743200" cy="2148840"/>
          </a:xfrm>
          <a:prstGeom prst="rect">
            <a:avLst/>
          </a:prstGeom>
          <a:solidFill>
            <a:srgbClr val="1A25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24128"/>
            <a:ext cx="73152" cy="21488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115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9848" y="1115568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1069848" y="11155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39112" y="1115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wh_age = 71%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6072" y="14813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Establishment Programme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192024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12-month support for warehouses &lt;5 years old: distributor managers, retail onboarding targets, throughput milestones.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1024128"/>
            <a:ext cx="2743200" cy="2148840"/>
          </a:xfrm>
          <a:prstGeom prst="rect">
            <a:avLst/>
          </a:prstGeom>
          <a:solidFill>
            <a:srgbClr val="1A25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024128"/>
            <a:ext cx="73152" cy="21488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5" name="Text 13"/>
          <p:cNvSpPr/>
          <p:nvPr/>
        </p:nvSpPr>
        <p:spPr>
          <a:xfrm>
            <a:off x="3502152" y="1115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95928" y="1115568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DC6B19"/>
          </a:solidFill>
          <a:ln/>
        </p:spPr>
      </p:sp>
      <p:sp>
        <p:nvSpPr>
          <p:cNvPr id="17" name="Text 15"/>
          <p:cNvSpPr/>
          <p:nvPr/>
        </p:nvSpPr>
        <p:spPr>
          <a:xfrm>
            <a:off x="3995928" y="11155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5192" y="1115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wh_breakdown = 11.9%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02152" y="14813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Programme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02152" y="192024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calendar for bottom-500 disruption sites: electrical audits, contingency staffing, flood-prep. Target: reduce breakdowns from 5→2 per quarter.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63640" y="1024128"/>
            <a:ext cx="2743200" cy="2148840"/>
          </a:xfrm>
          <a:prstGeom prst="rect">
            <a:avLst/>
          </a:prstGeom>
          <a:solidFill>
            <a:srgbClr val="1A25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024128"/>
            <a:ext cx="73152" cy="21488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232" y="1115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22008" y="1115568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28A745"/>
          </a:solidFill>
          <a:ln/>
        </p:spPr>
      </p:sp>
      <p:sp>
        <p:nvSpPr>
          <p:cNvPr id="25" name="Text 23"/>
          <p:cNvSpPr/>
          <p:nvPr/>
        </p:nvSpPr>
        <p:spPr>
          <a:xfrm>
            <a:off x="6922008" y="11155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91272" y="11155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rank 3rd/8th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28232" y="14813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&amp; Retail Expansion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28232" y="192024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new distributors + 200 retail accounts per underperforming West &amp; North warehouse within 12 months.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554480" y="3310128"/>
            <a:ext cx="2926080" cy="1444752"/>
          </a:xfrm>
          <a:prstGeom prst="rect">
            <a:avLst/>
          </a:prstGeom>
          <a:solidFill>
            <a:srgbClr val="1A25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554480" y="3310128"/>
            <a:ext cx="73152" cy="144475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1" name="Text 29"/>
          <p:cNvSpPr/>
          <p:nvPr/>
        </p:nvSpPr>
        <p:spPr>
          <a:xfrm>
            <a:off x="1719072" y="3383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12848" y="338328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A7A4A"/>
          </a:solidFill>
          <a:ln/>
        </p:spPr>
      </p:sp>
      <p:sp>
        <p:nvSpPr>
          <p:cNvPr id="33" name="Text 31"/>
          <p:cNvSpPr/>
          <p:nvPr/>
        </p:nvSpPr>
        <p:spPr>
          <a:xfrm>
            <a:off x="2212848" y="3383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73552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dist_from_hub rank 7th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719072" y="36941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Restocking for Remote Sites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19072" y="40416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GBM model to generate per-warehouse restocking forecasts. Calibrate safety stock by predicted throughput for hubs &gt;200km.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310128"/>
            <a:ext cx="2926080" cy="1444752"/>
          </a:xfrm>
          <a:prstGeom prst="rect">
            <a:avLst/>
          </a:prstGeom>
          <a:solidFill>
            <a:srgbClr val="1A25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310128"/>
            <a:ext cx="73152" cy="144475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9" name="Text 37"/>
          <p:cNvSpPr/>
          <p:nvPr/>
        </p:nvSpPr>
        <p:spPr>
          <a:xfrm>
            <a:off x="4873752" y="3383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67528" y="338328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2E5FA3"/>
          </a:solidFill>
          <a:ln/>
        </p:spPr>
      </p:sp>
      <p:sp>
        <p:nvSpPr>
          <p:cNvPr id="41" name="Text 39"/>
          <p:cNvSpPr/>
          <p:nvPr/>
        </p:nvSpPr>
        <p:spPr>
          <a:xfrm>
            <a:off x="5367528" y="3383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OpsReady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28232" y="3383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grade rank 3rd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73752" y="36941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Improvement Programme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73752" y="40416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remediation for Grade B/C warehouses. 90-day certification improvement timeline. Dual benefit: throughput + compliance.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8235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45720" cy="51435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65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decisions matter more than algorithms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0.987-correlated co-indicator was more impactful than any model choice.</a:t>
            </a:r>
            <a:endParaRPr lang="en-US" sz="10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24871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487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metrics build trust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0.554 on clean data tells the truth. A 0.99 built on circular logic tells a story that collapses under scrutiny.</a:t>
            </a:r>
            <a:endParaRPr lang="en-US" sz="10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" y="3675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675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is a business tool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233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technical choice — feature direction, tier thresholds, GBM tuning — existed to answer a business question, not to impress an algorithm.</a:t>
            </a:r>
            <a:endParaRPr lang="en-US" sz="10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60520" y="3840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160520" y="868680"/>
            <a:ext cx="4663440" cy="502920"/>
          </a:xfrm>
          <a:prstGeom prst="rect">
            <a:avLst/>
          </a:prstGeom>
          <a:solidFill>
            <a:srgbClr val="1A2550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8869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Real-time efficiency dashboard integrating live WMS data feeds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60520" y="1463040"/>
            <a:ext cx="4663440" cy="502920"/>
          </a:xfrm>
          <a:prstGeom prst="rect">
            <a:avLst/>
          </a:prstGeom>
          <a:solidFill>
            <a:srgbClr val="1A2550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4813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Cost-efficiency index: expenditure per ton shipped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60520" y="2057400"/>
            <a:ext cx="4663440" cy="502920"/>
          </a:xfrm>
          <a:prstGeom prst="rect">
            <a:avLst/>
          </a:prstGeom>
          <a:solidFill>
            <a:srgbClr val="1A2550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20756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Unsupervised clustering for warehouse peer-group benchmarking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651760"/>
            <a:ext cx="4663440" cy="502920"/>
          </a:xfrm>
          <a:prstGeom prst="rect">
            <a:avLst/>
          </a:prstGeom>
          <a:solidFill>
            <a:srgbClr val="1A2550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26700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Deep learning for temporal demand pattern capture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60520" y="3337560"/>
            <a:ext cx="4663440" cy="142189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4" name="Text 22"/>
          <p:cNvSpPr/>
          <p:nvPr/>
        </p:nvSpPr>
        <p:spPr>
          <a:xfrm>
            <a:off x="425196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251960" y="391363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Deepesh Kumar Gautam  |  233VBBR00561
</a:t>
            </a:r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SupplyFlow FMCG Solutions — Warehouse Operational Efficiency
</a:t>
            </a:r>
            <a:r>
              <a:rPr lang="en-US" sz="1000" dirty="0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Project Link: </a:t>
            </a:r>
            <a:r>
              <a:rPr lang="en-US" sz="950" i="1" dirty="0">
                <a:solidFill>
                  <a:schemeClr val="accent6">
                    <a:lumMod val="20000"/>
                    <a:lumOff val="80000"/>
                  </a:schemeClr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https://github.com/Dvipg/Supply-Flow--Analyzing-Warehouse-Operational-Efficiency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  <a:highlight>
                <a:srgbClr val="000000"/>
              </a:highlight>
            </a:endParaRPr>
          </a:p>
        </p:txBody>
      </p:sp>
      <p:sp>
        <p:nvSpPr>
          <p:cNvPr id="26" name="Text 24"/>
          <p:cNvSpPr/>
          <p:nvPr/>
        </p:nvSpPr>
        <p:spPr>
          <a:xfrm>
            <a:off x="8046720" y="4800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1215</Words>
  <Application>Microsoft Office PowerPoint</Application>
  <PresentationFormat>On-screen Show (16:9)</PresentationFormat>
  <Paragraphs>241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 Operational Efficiency — SupplyFlow FMCG Solutions</dc:title>
  <dc:subject>PptxGenJS Presentation</dc:subject>
  <dc:creator>PptxGenJS</dc:creator>
  <cp:lastModifiedBy>Deepesh Kumar</cp:lastModifiedBy>
  <cp:revision>2</cp:revision>
  <dcterms:created xsi:type="dcterms:W3CDTF">2026-04-25T09:23:15Z</dcterms:created>
  <dcterms:modified xsi:type="dcterms:W3CDTF">2026-04-25T16:15:42Z</dcterms:modified>
</cp:coreProperties>
</file>